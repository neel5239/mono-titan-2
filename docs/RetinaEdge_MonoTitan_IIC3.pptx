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3" r:id="rId26"/>
    <p:sldId id="261" r:id="rId7"/>
  </p:sldIdLst>
  <p:sldSz cx="12192000" cy="6858000"/>
  <p:notesSz cx="6858000" cy="9144000"/>
  <p:embeddedFontLst>
    <p:embeddedFont>
      <p:font typeface="Playfair Display" pitchFamily="2" charset="77"/>
      <p:regular r:id="rId10"/>
      <p:bold r:id="rId11"/>
      <p:italic r:id="rId12"/>
      <p:boldItalic r:id="rId13"/>
    </p:embeddedFont>
    <p:embeddedFont>
      <p:font typeface="Poppins" pitchFamily="2" charset="77"/>
      <p:regular r:id="rId14"/>
      <p:bold r:id="rId15"/>
      <p:italic r:id="rId16"/>
      <p:boldItalic r:id="rId17"/>
    </p:embeddedFont>
    <p:embeddedFont>
      <p:font typeface="Poppins Light" panose="00000400000000000000" pitchFamily="2" charset="77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67"/>
  </p:normalViewPr>
  <p:slideViewPr>
    <p:cSldViewPr snapToGrid="0">
      <p:cViewPr varScale="1">
        <p:scale>
          <a:sx n="110" d="100"/>
          <a:sy n="110" d="100"/>
        </p:scale>
        <p:origin x="56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0" Type="http://schemas.openxmlformats.org/officeDocument/2006/relationships/font" Target="fonts/font11.fntdata"/><Relationship Id="rId21" Type="http://schemas.openxmlformats.org/officeDocument/2006/relationships/font" Target="fonts/font12.fnt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0175" y="414337"/>
            <a:ext cx="9391650" cy="602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85511" y="1533525"/>
            <a:ext cx="7820977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INTERNATIONAL INNOVATION </a:t>
            </a:r>
            <a:r>
              <a:rPr lang="en-US" sz="4800" b="1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CHALLENGE </a:t>
            </a:r>
            <a:r>
              <a:rPr lang="en-US" sz="4800" b="1" dirty="0">
                <a:solidFill>
                  <a:srgbClr val="F2EEFA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3.0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471987" y="4005262"/>
            <a:ext cx="63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Theme- </a:t>
            </a: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HealthTech · Problem Statement 12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471987" y="4557712"/>
            <a:ext cx="63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Idea Title- </a:t>
            </a: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RetinaEdge: offline, explainable DR screening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4471987" y="5110162"/>
            <a:ext cx="63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Team Name- </a:t>
            </a: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MonoTitan</a:t>
            </a:r>
            <a:endParaRPr dirty="0"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43362" y="40338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43362" y="45862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43362" y="51387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E7922C-D65A-4A22-8F20-6A8FB0158D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2323" y="588918"/>
            <a:ext cx="2844187" cy="8731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3A44B1-CD48-B725-0E2D-7F4DFB4556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1713" y="588918"/>
            <a:ext cx="1877963" cy="972367"/>
          </a:xfrm>
          <a:prstGeom prst="rect">
            <a:avLst/>
          </a:prstGeom>
        </p:spPr>
      </p:pic>
      <p:sp>
        <p:nvSpPr>
          <p:cNvPr id="7" name="Google Shape;111;p14">
            <a:extLst>
              <a:ext uri="{FF2B5EF4-FFF2-40B4-BE49-F238E27FC236}">
                <a16:creationId xmlns:a16="http://schemas.microsoft.com/office/drawing/2014/main" id="{B0B7FDCA-5857-D492-02A9-B3CA0036752A}"/>
              </a:ext>
            </a:extLst>
          </p:cNvPr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73E524B-A1B2-0008-AF1C-66E70946F0B4}"/>
              </a:ext>
            </a:extLst>
          </p:cNvPr>
          <p:cNvGrpSpPr/>
          <p:nvPr/>
        </p:nvGrpSpPr>
        <p:grpSpPr>
          <a:xfrm>
            <a:off x="571500" y="1550000"/>
            <a:ext cx="10977715" cy="380873"/>
            <a:chOff x="571500" y="2719451"/>
            <a:chExt cx="10977715" cy="380873"/>
          </a:xfrm>
        </p:grpSpPr>
        <p:sp>
          <p:nvSpPr>
            <p:cNvPr id="100" name="Google Shape;100;p14"/>
            <p:cNvSpPr txBox="1"/>
            <p:nvPr/>
          </p:nvSpPr>
          <p:spPr>
            <a:xfrm>
              <a:off x="928840" y="2719451"/>
              <a:ext cx="10620375" cy="3808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Proposed solution: </a:t>
              </a:r>
              <a:r>
                <a:rPr lang="en-US" sz="160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one retina photo → grade, visible evidence and a next step. Runs fully offline on a phone or laptop for ASHA and PHC workers.</a:t>
              </a:r>
              <a:endParaRPr dirty="0"/>
            </a:p>
          </p:txBody>
        </p:sp>
        <p:pic>
          <p:nvPicPr>
            <p:cNvPr id="105" name="Google Shape;105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2819400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BDCEEF2-B973-65CB-4419-90818D61867D}"/>
              </a:ext>
            </a:extLst>
          </p:cNvPr>
          <p:cNvGrpSpPr/>
          <p:nvPr/>
        </p:nvGrpSpPr>
        <p:grpSpPr>
          <a:xfrm>
            <a:off x="571500" y="2750000"/>
            <a:ext cx="5238750" cy="314325"/>
            <a:chOff x="571500" y="3657600"/>
            <a:chExt cx="5238750" cy="314325"/>
          </a:xfrm>
        </p:grpSpPr>
        <p:sp>
          <p:nvSpPr>
            <p:cNvPr id="101" name="Google Shape;101;p14"/>
            <p:cNvSpPr txBox="1"/>
            <p:nvPr/>
          </p:nvSpPr>
          <p:spPr>
            <a:xfrm>
              <a:off x="1000125" y="36576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How it works: </a:t>
              </a:r>
              <a:r>
                <a:rPr lang="en-US" sz="140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live photo coach → DR grade 0–4 → lesion outlines → referral tier → Hindi / English sheet with QR.</a:t>
              </a:r>
              <a:endParaRPr dirty="0"/>
            </a:p>
          </p:txBody>
        </p:sp>
        <p:pic>
          <p:nvPicPr>
            <p:cNvPr id="106" name="Google Shape;106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36861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76B38BC-4A69-5F43-A0F5-137CD55E4FA8}"/>
              </a:ext>
            </a:extLst>
          </p:cNvPr>
          <p:cNvGrpSpPr/>
          <p:nvPr/>
        </p:nvGrpSpPr>
        <p:grpSpPr>
          <a:xfrm>
            <a:off x="571500" y="3700000"/>
            <a:ext cx="5238750" cy="314325"/>
            <a:chOff x="571500" y="4210050"/>
            <a:chExt cx="5238750" cy="314325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1000125" y="421005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Problem it fixes: </a:t>
              </a:r>
              <a:r>
                <a:rPr lang="en-US" sz="140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13–38% of field photos are “ungradable”; current AIs answer with a black-box yes/no.</a:t>
              </a:r>
              <a:endParaRPr dirty="0"/>
            </a:p>
          </p:txBody>
        </p:sp>
        <p:pic>
          <p:nvPicPr>
            <p:cNvPr id="107" name="Google Shape;107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23862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F6956BC-D0DD-126D-0DC6-421091A25E5A}"/>
              </a:ext>
            </a:extLst>
          </p:cNvPr>
          <p:cNvGrpSpPr/>
          <p:nvPr/>
        </p:nvGrpSpPr>
        <p:grpSpPr>
          <a:xfrm>
            <a:off x="571500" y="4650000"/>
            <a:ext cx="5238750" cy="314325"/>
            <a:chOff x="571500" y="4762500"/>
            <a:chExt cx="5238750" cy="314325"/>
          </a:xfrm>
        </p:grpSpPr>
        <p:sp>
          <p:nvSpPr>
            <p:cNvPr id="103" name="Google Shape;103;p14"/>
            <p:cNvSpPr txBox="1"/>
            <p:nvPr/>
          </p:nvSpPr>
          <p:spPr>
            <a:xfrm>
              <a:off x="1000125" y="4762500"/>
              <a:ext cx="4810125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Innovation: </a:t>
              </a:r>
              <a:r>
                <a:rPr lang="en-US" sz="1400" b="0" i="0" u="none" strike="noStrike" cap="none" dirty="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no internet, detects a missing lens, shows the lesions behind every grade, sends unsure cases to a human.</a:t>
              </a:r>
              <a:endParaRPr dirty="0"/>
            </a:p>
          </p:txBody>
        </p:sp>
        <p:pic>
          <p:nvPicPr>
            <p:cNvPr id="108" name="Google Shape;108;p14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4791075"/>
              <a:ext cx="2000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4"/>
          <p:cNvSpPr txBox="1"/>
          <p:nvPr/>
        </p:nvSpPr>
        <p:spPr>
          <a:xfrm>
            <a:off x="571500" y="571500"/>
            <a:ext cx="8600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RETINAEDGE: EXPLAINABLE DR SCREENING</a:t>
            </a:r>
            <a:endParaRPr dirty="0"/>
          </a:p>
        </p:txBody>
      </p:sp>
      <p:sp>
        <p:nvSpPr>
          <p:cNvPr id="110" name="Google Shape;110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sp>
        <p:nvSpPr>
          <p:cNvPr id="101" name="Google Shape;101;p14"/>
          <p:cNvSpPr txBox="1"/>
          <p:nvPr/>
        </p:nvSpPr>
        <p:spPr>
          <a:xfrm>
            <a:off x="6350000" y="2750000"/>
            <a:ext cx="52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Validated on 733 held-out Indian images</a:t>
            </a:r>
            <a:r>
              <a:rPr lang="en-US" sz="140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Sensitivity 97%  ·  Specificity 93%  ·  AUC 0.98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Quadratic weighted kappa 0.91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Photo coach: 7 faults, mean AP 0.99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Cost per screen under ₹15 (Kerala programme: ₹2,129)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B18FF61-1857-DD5F-D4B4-32B1030BFE8C}"/>
              </a:ext>
            </a:extLst>
          </p:cNvPr>
          <p:cNvGrpSpPr/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2" name="Google Shape;84;p13" descr="image.png">
              <a:extLst>
                <a:ext uri="{FF2B5EF4-FFF2-40B4-BE49-F238E27FC236}">
                  <a16:creationId xmlns:a16="http://schemas.microsoft.com/office/drawing/2014/main" id="{1AED31AE-ABCF-23A6-5C8B-83D0AC31EAE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98;p14" descr="image.png">
              <a:extLst>
                <a:ext uri="{FF2B5EF4-FFF2-40B4-BE49-F238E27FC236}">
                  <a16:creationId xmlns:a16="http://schemas.microsoft.com/office/drawing/2014/main" id="{1F32D93C-7343-8AF4-F453-702DCD511F7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650000"/>
            <a:ext cx="5238750" cy="48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650000"/>
            <a:ext cx="5238750" cy="48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50582" y="1950000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Technologies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962025" y="255000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Models: EfficientNet-B2 DR grader and MobileNetV3 photo coach trained by us; open U-Net lesion model (MIT)</a:t>
            </a:r>
            <a:endParaRPr dirty="0"/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Backend: Python, FastAPI, ONNX Runtime, OpenCV, SQLite; 200 ms per image on a laptop CPU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Frontend: React PWA, English + Hindi, light/dark, printable sheet with QR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Data: APTOS 2019 (3,662 Indian images), IDRiD, 6,899 non-retina photos, phone-lens simulation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Hardware: any phone or laptop; ₹8k lens adapter or any fundus camera</a:t>
            </a:r>
          </a:p>
        </p:txBody>
      </p:sp>
      <p:sp>
        <p:nvSpPr>
          <p:cNvPr id="121" name="Google Shape;121;p15"/>
          <p:cNvSpPr txBox="1"/>
          <p:nvPr/>
        </p:nvSpPr>
        <p:spPr>
          <a:xfrm>
            <a:off x="6660832" y="1950000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Methodology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6772275" y="255000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Architecture and workflow</a:t>
            </a: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endParaRPr dirty="0"/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1  Capture: camera or upload; localiser crops the retina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2  Photo coach on every frame: green / yellow / red with the reason; red = retake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3  Grader: ICDR 0–4 with confidence and heat map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4  Lesion evidence: microaneurysms, haemorrhages, exudates outlined and counted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5  Decision: routine / recheck / refer / urgent / second look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6  Output: patient sheet + QR, local record, district dashboard</a:t>
            </a:r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TECHNICAL APPROACH</a:t>
            </a:r>
            <a:endParaRPr dirty="0"/>
          </a:p>
        </p:txBody>
      </p:sp>
      <p:sp>
        <p:nvSpPr>
          <p:cNvPr id="124" name="Google Shape;124;p1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E2B5A-0D8D-0AB1-E15B-5102336B75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D9BBD4A-0CA1-32F3-26D6-3379A9124AC1}"/>
              </a:ext>
            </a:extLst>
          </p:cNvPr>
          <p:cNvGrpSpPr/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2" name="Google Shape;84;p13" descr="image.png">
              <a:extLst>
                <a:ext uri="{FF2B5EF4-FFF2-40B4-BE49-F238E27FC236}">
                  <a16:creationId xmlns:a16="http://schemas.microsoft.com/office/drawing/2014/main" id="{E85BF679-52A2-A2B8-04BF-1A2CCF31193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98;p14" descr="image.png">
              <a:extLst>
                <a:ext uri="{FF2B5EF4-FFF2-40B4-BE49-F238E27FC236}">
                  <a16:creationId xmlns:a16="http://schemas.microsoft.com/office/drawing/2014/main" id="{6A9C8AA2-5CCF-3436-C5FD-C0ADC42FFDE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200000"/>
            <a:ext cx="3429000" cy="40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81500" y="2200000"/>
            <a:ext cx="3429000" cy="40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200000"/>
            <a:ext cx="3429000" cy="40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5500" y="25500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1720929" y="3100000"/>
            <a:ext cx="113014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Feasibility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866775" y="3550000"/>
            <a:ext cx="2838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Working prototype, demoed offline in 36 h</a:t>
            </a:r>
            <a:endParaRPr dirty="0"/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Open data and weights; trained on a laptop GPU in 25 min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No cloud, no special camera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Regulatory path: CDSCO Class C SaMD</a:t>
            </a:r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25500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490924" y="3100000"/>
            <a:ext cx="121015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Challenges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4776787" y="3550000"/>
            <a:ext cx="2638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Phone-lens photos differ from training data</a:t>
            </a:r>
            <a:endParaRPr dirty="0"/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Adjacent grades (1 vs 2, 3 vs 4) are hard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Confidence is heuristic, not calibrated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No clinical validation yet</a:t>
            </a:r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39312" y="25500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9360931" y="3100000"/>
            <a:ext cx="109013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BE69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Strategies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8486775" y="3550000"/>
            <a:ext cx="2838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Phone-lens simulation in training; mBRSET external test</a:t>
            </a:r>
            <a:endParaRPr dirty="0"/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Second-look tier absorbs boundary cases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Lesion model cross-checks the grader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F2EEFA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Referral action unaffected by adjacent-grade errors</a:t>
            </a:r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FEASIBILITY AND VIABILITY</a:t>
            </a:r>
            <a:endParaRPr dirty="0"/>
          </a:p>
        </p:txBody>
      </p:sp>
      <p:sp>
        <p:nvSpPr>
          <p:cNvPr id="144" name="Google Shape;144;p1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11687175" y="6467475"/>
            <a:ext cx="2190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39AD2-9821-3F8D-A3D6-35A48800DB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382BC47-C1E8-211A-F7F3-99B987C7EA8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3" name="Google Shape;84;p13" descr="image.png">
              <a:extLst>
                <a:ext uri="{FF2B5EF4-FFF2-40B4-BE49-F238E27FC236}">
                  <a16:creationId xmlns:a16="http://schemas.microsoft.com/office/drawing/2014/main" id="{C50263B4-4851-C499-7453-724CE8EF500B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8;p14" descr="image.png">
              <a:extLst>
                <a:ext uri="{FF2B5EF4-FFF2-40B4-BE49-F238E27FC236}">
                  <a16:creationId xmlns:a16="http://schemas.microsoft.com/office/drawing/2014/main" id="{0ED84BD7-0591-5A0E-6A51-006CBA369A9B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7"/>
          <p:cNvSpPr txBox="1"/>
          <p:nvPr/>
        </p:nvSpPr>
        <p:spPr>
          <a:xfrm>
            <a:off x="1000125" y="1683172"/>
            <a:ext cx="98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Impact on the target audience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100 M+ Indians with diabetes, ~20 k eye doctors: screening moves to the village via ASHA workers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Bad photos fixed before capture: fewer wasted visits and retakes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Healthy people stay home: 93% specificity vs 54–65% for deployed field AIs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Uncertain cases get a human second look, not a coin-flip verdict</a:t>
            </a:r>
          </a:p>
        </p:txBody>
      </p:sp>
      <p:sp>
        <p:nvSpPr>
          <p:cNvPr id="155" name="Google Shape;155;p17"/>
          <p:cNvSpPr txBox="1"/>
          <p:nvPr/>
        </p:nvSpPr>
        <p:spPr>
          <a:xfrm>
            <a:off x="957415" y="4200000"/>
            <a:ext cx="98000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Benefits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Social: earlier treatment of a preventable cause of blindness; a sheet in the patient’s language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Economic: under ₹15 per screen, no ₹4-lakh camera, no cloud fees, fewer false referrals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System: dashboard shows why photos fail and whether referrals close; data never leaves the device</a:t>
            </a:r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71174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600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1180147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Google Shape;143;p16">
            <a:extLst>
              <a:ext uri="{FF2B5EF4-FFF2-40B4-BE49-F238E27FC236}">
                <a16:creationId xmlns:a16="http://schemas.microsoft.com/office/drawing/2014/main" id="{3CAF39FC-C49D-1484-968C-D8CC6B6281EE}"/>
              </a:ext>
            </a:extLst>
          </p:cNvPr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IMPACT AND BENEFITS</a:t>
            </a:r>
            <a:endParaRPr dirty="0"/>
          </a:p>
        </p:txBody>
      </p:sp>
      <p:sp>
        <p:nvSpPr>
          <p:cNvPr id="6" name="Google Shape;144;p16">
            <a:extLst>
              <a:ext uri="{FF2B5EF4-FFF2-40B4-BE49-F238E27FC236}">
                <a16:creationId xmlns:a16="http://schemas.microsoft.com/office/drawing/2014/main" id="{FDB0C6B6-D604-F5FA-8C1F-20E675C8EE7E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3EAE13-7287-2B9A-1824-778F4241D5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816A02-64BD-FBFB-2E8F-FE68591AE81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3" name="Google Shape;84;p13" descr="image.png">
              <a:extLst>
                <a:ext uri="{FF2B5EF4-FFF2-40B4-BE49-F238E27FC236}">
                  <a16:creationId xmlns:a16="http://schemas.microsoft.com/office/drawing/2014/main" id="{0FC4E61E-2819-88A1-4D2E-25F6C534E60D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8;p14" descr="image.png">
              <a:extLst>
                <a:ext uri="{FF2B5EF4-FFF2-40B4-BE49-F238E27FC236}">
                  <a16:creationId xmlns:a16="http://schemas.microsoft.com/office/drawing/2014/main" id="{062BE52A-6744-24D5-7827-BF7ABFAE66D8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4" name="Google Shape;16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4735" y="1661038"/>
            <a:ext cx="10491634" cy="480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71500" y="682747"/>
            <a:ext cx="929116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3600" b="1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</a:defRPr>
            </a:lvl1pPr>
          </a:lstStyle>
          <a:p>
            <a:r>
              <a:rPr lang="en-US" dirty="0">
                <a:sym typeface="Playfair Display"/>
              </a:rPr>
              <a:t>RESEARCH AND REFERENCES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E1C9CA6-2431-0A69-98BB-5E30EED6A492}"/>
              </a:ext>
            </a:extLst>
          </p:cNvPr>
          <p:cNvGrpSpPr/>
          <p:nvPr/>
        </p:nvGrpSpPr>
        <p:grpSpPr>
          <a:xfrm>
            <a:off x="2306177" y="2350000"/>
            <a:ext cx="8058150" cy="375455"/>
            <a:chOff x="2168525" y="4214995"/>
            <a:chExt cx="8058150" cy="375455"/>
          </a:xfrm>
        </p:grpSpPr>
        <p:sp>
          <p:nvSpPr>
            <p:cNvPr id="168" name="Google Shape;168;p18"/>
            <p:cNvSpPr txBox="1"/>
            <p:nvPr/>
          </p:nvSpPr>
          <p:spPr>
            <a:xfrm>
              <a:off x="2688525" y="4214995"/>
              <a:ext cx="7538150" cy="365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cap="none" dirty="0">
                  <a:solidFill>
                    <a:srgbClr val="F2EEFA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• Beede et al., CHI 2020: Google ARDA in Thai clinics, 21% of photos rejected</a:t>
              </a:r>
              <a:endParaRPr dirty="0"/>
            </a:p>
            <a:p>
              <a:pPr marL="0" marR="0" lvl="0" indent="0" algn="l" rtl="0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cap="none" dirty="0">
                  <a:solidFill>
                    <a:srgbClr val="F2EEFA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• ARDA India, JAMA Network Open 2025: 86.9% gradable across 45 sites</a:t>
              </a:r>
            </a:p>
            <a:p>
              <a:pPr marL="0" marR="0" lvl="0" indent="0" algn="l" rtl="0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cap="none" dirty="0">
                  <a:solidFill>
                    <a:srgbClr val="F2EEFA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• Remidio Medios trial, BMJ Open 2026: 38% ungradable in community screening</a:t>
              </a:r>
            </a:p>
            <a:p>
              <a:pPr marL="0" marR="0" lvl="0" indent="0" algn="l" rtl="0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cap="none" dirty="0">
                  <a:solidFill>
                    <a:srgbClr val="F2EEFA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• Punjab PHC study, IJO 2026: field specificity 54–63%</a:t>
              </a:r>
            </a:p>
            <a:p>
              <a:pPr marL="0" marR="0" lvl="0" indent="0" algn="l" rtl="0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cap="none" dirty="0">
                  <a:solidFill>
                    <a:srgbClr val="F2EEFA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• Sayres et al., Ophthalmology 2019: heat maps can mislead; lesion evidence preferred</a:t>
              </a:r>
            </a:p>
            <a:p>
              <a:pPr marL="0" marR="0" lvl="0" indent="0" algn="l" rtl="0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cap="none" dirty="0">
                  <a:solidFill>
                    <a:srgbClr val="F2EEFA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• Datasets: APTOS 2019, IDRiD (CC BY 4.0), mBRSET (PhysioNet)</a:t>
              </a:r>
            </a:p>
            <a:p>
              <a:pPr marL="0" marR="0" lvl="0" indent="0" algn="l" rtl="0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cap="none" dirty="0">
                  <a:solidFill>
                    <a:srgbClr val="F2EEFA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• Open weights: ClementP FundusDRGrading and fundus-lesions-toolkit (MIT)</a:t>
              </a:r>
            </a:p>
            <a:p>
              <a:pPr marL="0" marR="0" lvl="0" indent="0" algn="l" rtl="0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cap="none" dirty="0">
                  <a:solidFill>
                    <a:srgbClr val="F2EEFA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• Kerala Nayanamritham cost study, Eye 2024: ₹2,129 per person screened</a:t>
              </a:r>
            </a:p>
          </p:txBody>
        </p:sp>
        <p:pic>
          <p:nvPicPr>
            <p:cNvPr id="169" name="Google Shape;169;p18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268525" y="4274995"/>
              <a:ext cx="285750" cy="228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170;p18"/>
          <p:cNvSpPr txBox="1"/>
          <p:nvPr/>
        </p:nvSpPr>
        <p:spPr>
          <a:xfrm>
            <a:off x="11696700" y="6467475"/>
            <a:ext cx="2095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84B2B-35C3-CD70-ED94-211E6AF95D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3919" y="141850"/>
            <a:ext cx="2259114" cy="1169718"/>
          </a:xfrm>
          <a:prstGeom prst="rect">
            <a:avLst/>
          </a:prstGeom>
        </p:spPr>
      </p:pic>
      <p:sp>
        <p:nvSpPr>
          <p:cNvPr id="6" name="Google Shape;144;p16">
            <a:extLst>
              <a:ext uri="{FF2B5EF4-FFF2-40B4-BE49-F238E27FC236}">
                <a16:creationId xmlns:a16="http://schemas.microsoft.com/office/drawing/2014/main" id="{D7515F0B-1E18-86AF-90B0-D093B0E72B20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>
            <a:extLst>
              <a:ext uri="{FF2B5EF4-FFF2-40B4-BE49-F238E27FC236}">
                <a16:creationId xmlns:a16="http://schemas.microsoft.com/office/drawing/2014/main" id="{D382BC47-C1E8-211A-F7F3-99B987C7EA8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3" name="Google Shape;84;p13" descr="image.png">
              <a:extLst>
                <a:ext uri="{FF2B5EF4-FFF2-40B4-BE49-F238E27FC236}">
                  <a16:creationId xmlns:a16="http://schemas.microsoft.com/office/drawing/2014/main" id="{C50263B4-4851-C499-7453-724CE8EF500B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8;p14" descr="image.png">
              <a:extLst>
                <a:ext uri="{FF2B5EF4-FFF2-40B4-BE49-F238E27FC236}">
                  <a16:creationId xmlns:a16="http://schemas.microsoft.com/office/drawing/2014/main" id="{0ED84BD7-0591-5A0E-6A51-006CBA369A9B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7"/>
          <p:cNvSpPr txBox="1"/>
          <p:nvPr/>
        </p:nvSpPr>
        <p:spPr>
          <a:xfrm>
            <a:off x="1000125" y="1683172"/>
            <a:ext cx="9800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Our MVP: working today, fully offline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Web app on laptop or phone: patient → photo → result → printable sheet, plus records, second-look queue, dashboard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Three trained/validated models: DR grader (QWK 0.91), photo &amp; lens coach (AP 0.99), lesion outlines (Dice 0.68)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Live photo coach: green / yellow / red with the reason; face or room photo is refused, not graded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Every result carries a heat map, lesion counts, a plain-language reason and a confidence</a:t>
            </a:r>
          </a:p>
        </p:txBody>
      </p:sp>
      <p:sp>
        <p:nvSpPr>
          <p:cNvPr id="155" name="Google Shape;155;p17"/>
          <p:cNvSpPr txBox="1"/>
          <p:nvPr/>
        </p:nvSpPr>
        <p:spPr>
          <a:xfrm>
            <a:off x="957415" y="4200000"/>
            <a:ext cx="98000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Our edge over deployed systems (ARDA, EyeArt, Medios, Forus)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Offline in a browser on a ₹10k phone; no ₹4-lakh camera, no cloud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Coaches the capture and detects a missing lens; others only say “retake”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Shows the lesions behind the grade; others return a black-box yes/no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 Second-look tier: 93% specificity vs 54–65% measured for field AIs in Punjab</a:t>
            </a:r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71174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600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1180147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Google Shape;143;p16">
            <a:extLst>
              <a:ext uri="{FF2B5EF4-FFF2-40B4-BE49-F238E27FC236}">
                <a16:creationId xmlns:a16="http://schemas.microsoft.com/office/drawing/2014/main" id="{3CAF39FC-C49D-1484-968C-D8CC6B6281EE}"/>
              </a:ext>
            </a:extLst>
          </p:cNvPr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OUR MVP AND OUR EDGE</a:t>
            </a:r>
            <a:endParaRPr dirty="0"/>
          </a:p>
        </p:txBody>
      </p:sp>
      <p:sp>
        <p:nvSpPr>
          <p:cNvPr id="6" name="Google Shape;144;p16">
            <a:extLst>
              <a:ext uri="{FF2B5EF4-FFF2-40B4-BE49-F238E27FC236}">
                <a16:creationId xmlns:a16="http://schemas.microsoft.com/office/drawing/2014/main" id="{FDB0C6B6-D604-F5FA-8C1F-20E675C8EE7E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3EAE13-7287-2B9A-1824-778F4241D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188</Words>
  <Application>Microsoft Macintosh PowerPoint</Application>
  <PresentationFormat>Widescreen</PresentationFormat>
  <Paragraphs>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Poppins Light</vt:lpstr>
      <vt:lpstr>Times New Roman</vt:lpstr>
      <vt:lpstr>Playfair Display</vt:lpstr>
      <vt:lpstr>Arial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Keshav Anand [CCE - 2024]</cp:lastModifiedBy>
  <cp:revision>9</cp:revision>
  <dcterms:modified xsi:type="dcterms:W3CDTF">2026-07-06T08:50:05Z</dcterms:modified>
</cp:coreProperties>
</file>